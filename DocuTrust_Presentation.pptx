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6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864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6BB8FE-2F8A-C4A8-17CF-3807A1F3B8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65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4114800" cy="4114800"/>
          </a:xfrm>
          <a:prstGeom prst="ellipse">
            <a:avLst/>
          </a:prstGeom>
          <a:solidFill>
            <a:srgbClr val="16305E"/>
          </a:solidFill>
          <a:ln w="19050">
            <a:solidFill>
              <a:srgbClr val="1A8F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16305E"/>
          </a:solidFill>
          <a:ln w="12700">
            <a:solidFill>
              <a:srgbClr val="02C0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0" y="320040"/>
            <a:ext cx="109728" cy="109728"/>
          </a:xfrm>
          <a:prstGeom prst="ellipse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549640" y="502920"/>
            <a:ext cx="109728" cy="109728"/>
          </a:xfrm>
          <a:prstGeom prst="ellipse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0" y="685800"/>
            <a:ext cx="109728" cy="109728"/>
          </a:xfrm>
          <a:prstGeom prst="ellipse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DocuTrust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Advanced RAG Platform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Automated Self-Correction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02C0D4">
              <a:alpha val="25000"/>
            </a:srgbClr>
          </a:solidFill>
          <a:ln w="12700">
            <a:solidFill>
              <a:srgbClr val="02C0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333756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A5FAD">
              <a:alpha val="25000"/>
            </a:srgbClr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51760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33756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0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333756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F5C842">
              <a:alpha val="25000"/>
            </a:srgbClr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0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Pipeline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· Citation-enforced · Hallucination-free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basic AI document search fails enterprises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572768"/>
          </a:xfrm>
          <a:prstGeom prst="roundRect">
            <a:avLst>
              <a:gd name="adj" fmla="val 6977"/>
            </a:avLst>
          </a:prstGeom>
          <a:solidFill>
            <a:srgbClr val="132748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33856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02996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LLM pipelines generate confident but factually wrong answers not grounded in source documents.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977640" cy="1572768"/>
          </a:xfrm>
          <a:prstGeom prst="roundRect">
            <a:avLst>
              <a:gd name="adj" fmla="val 6977"/>
            </a:avLst>
          </a:prstGeom>
          <a:solidFill>
            <a:srgbClr val="132748"/>
          </a:solidFill>
          <a:ln w="15240">
            <a:solidFill>
              <a:srgbClr val="1A8FE3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77256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01768" y="202996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unsourced, making traceability and compliance audits impossible.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977640" cy="1572768"/>
          </a:xfrm>
          <a:prstGeom prst="roundRect">
            <a:avLst>
              <a:gd name="adj" fmla="val 6977"/>
            </a:avLst>
          </a:prstGeom>
          <a:solidFill>
            <a:srgbClr val="132748"/>
          </a:solidFill>
          <a:ln w="15240">
            <a:solidFill>
              <a:srgbClr val="F5C8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33856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Retrieval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381304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or low-quality vector search returns irrelevant chunks that pollute generation.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3154680"/>
            <a:ext cx="3977640" cy="1572768"/>
          </a:xfrm>
          <a:prstGeom prst="roundRect">
            <a:avLst>
              <a:gd name="adj" fmla="val 6977"/>
            </a:avLst>
          </a:prstGeom>
          <a:solidFill>
            <a:srgbClr val="132748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77256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Transparency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01768" y="381304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see how or why an answer was produced, destroying trust in regulated environments.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DocuTrust: A self-correcting Corrective RAG (CRAG)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132748"/>
          </a:solidFill>
          <a:ln w="12700">
            <a:solidFill>
              <a:srgbClr val="1A8F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DocuTrust Does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retrieval quality BEFORE generating answers
</a:t>
            </a:r>
            <a:r>
              <a:rPr lang="en-US" sz="1100" b="1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every document chunk with a cross-encoder model
</a:t>
            </a:r>
            <a:r>
              <a:rPr lang="en-US" sz="1100" b="1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rewrites queries &amp; falls back to the web when local knowledge is insufficient
</a:t>
            </a:r>
            <a:r>
              <a:rPr lang="en-US" sz="1100" b="1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strict citations — every answer traces back to its source
</a:t>
            </a:r>
            <a:r>
              <a:rPr lang="en-US" sz="1100" b="1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1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real-time agent evaluation logs for full transparency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06440" y="1298448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32748"/>
          </a:solidFill>
          <a:ln w="15240">
            <a:solidFill>
              <a:srgbClr val="02C0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806440" y="13624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806440" y="182880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2414016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32748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806440" y="247802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806440" y="294436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3529584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32748"/>
          </a:solidFill>
          <a:ln w="15240">
            <a:solidFill>
              <a:srgbClr val="F5C8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806440" y="35935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06440" y="405993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components powering DocuTrust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4069080" cy="1600200"/>
          </a:xfrm>
          <a:prstGeom prst="roundRect">
            <a:avLst>
              <a:gd name="adj" fmla="val 6857"/>
            </a:avLst>
          </a:prstGeom>
          <a:solidFill>
            <a:srgbClr val="132748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76072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" y="1801368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 (CRAG pipeline)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(relevance grading)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Fallback API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325880"/>
            <a:ext cx="4069080" cy="1600200"/>
          </a:xfrm>
          <a:prstGeom prst="roundRect">
            <a:avLst>
              <a:gd name="adj" fmla="val 6857"/>
            </a:avLst>
          </a:prstGeom>
          <a:solidFill>
            <a:srgbClr val="132748"/>
          </a:solidFill>
          <a:ln w="19050">
            <a:solidFill>
              <a:srgbClr val="1A5FA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65192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5192" y="1801368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 &amp; Chunking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Mapping Service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154680"/>
            <a:ext cx="4069080" cy="1600200"/>
          </a:xfrm>
          <a:prstGeom prst="roundRect">
            <a:avLst>
              <a:gd name="adj" fmla="val 6857"/>
            </a:avLst>
          </a:prstGeom>
          <a:solidFill>
            <a:srgbClr val="132748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6072" y="3291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3630168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(client profiles)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Metadata Store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Index Lists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Trace Logs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3154680"/>
            <a:ext cx="4069080" cy="1600200"/>
          </a:xfrm>
          <a:prstGeom prst="roundRect">
            <a:avLst>
              <a:gd name="adj" fmla="val 6857"/>
            </a:avLst>
          </a:prstGeom>
          <a:solidFill>
            <a:srgbClr val="132748"/>
          </a:solidFill>
          <a:ln w="1905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65192" y="3291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5192" y="3630168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Split-Pane Corporate UI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PDF Upload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Agent Log Stream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CRAG pipeline data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0896" y="1261872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EA580C">
              <a:alpha val="85000"/>
            </a:srgbClr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10896" y="12618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36776" y="1650492"/>
            <a:ext cx="438912" cy="0"/>
          </a:xfrm>
          <a:prstGeom prst="line">
            <a:avLst/>
          </a:prstGeom>
          <a:noFill/>
          <a:ln w="22860">
            <a:solidFill>
              <a:srgbClr val="94A8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74520" y="150418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8C7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21408" y="1261872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7C3AED">
              <a:alpha val="85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121408" y="12618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47288" y="1650492"/>
            <a:ext cx="438912" cy="0"/>
          </a:xfrm>
          <a:prstGeom prst="line">
            <a:avLst/>
          </a:prstGeom>
          <a:noFill/>
          <a:ln w="22860">
            <a:solidFill>
              <a:srgbClr val="94A8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85032" y="150418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8C7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1261872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1A5FAD">
              <a:alpha val="85000"/>
            </a:srgbClr>
          </a:solidFill>
          <a:ln w="1905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931920" y="12618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57800" y="1650492"/>
            <a:ext cx="438912" cy="0"/>
          </a:xfrm>
          <a:prstGeom prst="line">
            <a:avLst/>
          </a:prstGeom>
          <a:noFill/>
          <a:ln w="22860">
            <a:solidFill>
              <a:srgbClr val="94A8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95544" y="150418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8C7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42432" y="1261872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F5C842">
              <a:alpha val="85000"/>
            </a:srgbClr>
          </a:solidFill>
          <a:ln w="1905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742432" y="12618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68312" y="1650492"/>
            <a:ext cx="438912" cy="0"/>
          </a:xfrm>
          <a:prstGeom prst="line">
            <a:avLst/>
          </a:prstGeom>
          <a:noFill/>
          <a:ln w="22860">
            <a:solidFill>
              <a:srgbClr val="94A8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06056" y="150418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8C7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52944" y="1261872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22C55E">
              <a:alpha val="85000"/>
            </a:srgbClr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52944" y="12618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82512" y="2039112"/>
            <a:ext cx="0" cy="475488"/>
          </a:xfrm>
          <a:prstGeom prst="line">
            <a:avLst/>
          </a:prstGeom>
          <a:noFill/>
          <a:ln w="19050">
            <a:solidFill>
              <a:srgbClr val="F9731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742432" y="25146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32748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42432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Fallback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(Query Rewriter)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50992" y="30815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if grade FAIL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3493008"/>
            <a:ext cx="2697480" cy="1389888"/>
          </a:xfrm>
          <a:prstGeom prst="roundRect">
            <a:avLst>
              <a:gd name="adj" fmla="val 6579"/>
            </a:avLst>
          </a:prstGeom>
          <a:solidFill>
            <a:srgbClr val="132748"/>
          </a:solidFill>
          <a:ln w="12700">
            <a:solidFill>
              <a:srgbClr val="1A5F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21208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" y="3886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pipeline, handles upload endpoints, manages embedding and citation services.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10128" y="3493008"/>
            <a:ext cx="2697480" cy="1389888"/>
          </a:xfrm>
          <a:prstGeom prst="roundRect">
            <a:avLst>
              <a:gd name="adj" fmla="val 6579"/>
            </a:avLst>
          </a:prstGeom>
          <a:solidFill>
            <a:srgbClr val="132748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47288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47288" y="3886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client profiles, document metadata, structural indexes, and interaction trace logs.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36208" y="3493008"/>
            <a:ext cx="2697480" cy="1389888"/>
          </a:xfrm>
          <a:prstGeom prst="roundRect">
            <a:avLst>
              <a:gd name="adj" fmla="val 6579"/>
            </a:avLst>
          </a:prstGeom>
          <a:solidFill>
            <a:srgbClr val="132748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73368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73368" y="3886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Split-pane interface: PDF upload left, real-time agent logs center, cited answer right.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 Agent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intelligent agents working in sequence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8321040" cy="1097280"/>
          </a:xfrm>
          <a:prstGeom prst="roundRect">
            <a:avLst>
              <a:gd name="adj" fmla="val 10000"/>
            </a:avLst>
          </a:prstGeom>
          <a:solidFill>
            <a:srgbClr val="132748"/>
          </a:solidFill>
          <a:ln w="17780">
            <a:solidFill>
              <a:srgbClr val="1A8FE3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1A8FE3">
              <a:alpha val="90000"/>
            </a:srgbClr>
          </a:solidFill>
          <a:ln w="12700">
            <a:solidFill>
              <a:srgbClr val="1A8F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399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Agent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70432" y="1792224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semantic vector similarity search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chunks by cosine similarity score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top-K structural document chunks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523744"/>
            <a:ext cx="8321040" cy="1097280"/>
          </a:xfrm>
          <a:prstGeom prst="roundRect">
            <a:avLst>
              <a:gd name="adj" fmla="val 10000"/>
            </a:avLst>
          </a:prstGeom>
          <a:solidFill>
            <a:srgbClr val="132748"/>
          </a:solidFill>
          <a:ln w="17780">
            <a:solidFill>
              <a:srgbClr val="F5C8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5C842">
              <a:alpha val="90000"/>
            </a:srgbClr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724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2660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Agent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70432" y="3054096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model scores each chunk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query-chunk pair directly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chunks below relevance threshold — triggers fallback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785616"/>
            <a:ext cx="8321040" cy="1097280"/>
          </a:xfrm>
          <a:prstGeom prst="roundRect">
            <a:avLst>
              <a:gd name="adj" fmla="val 10000"/>
            </a:avLst>
          </a:prstGeom>
          <a:solidFill>
            <a:srgbClr val="132748"/>
          </a:solidFill>
          <a:ln w="1778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2920" y="3986784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97316">
              <a:alpha val="9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986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70432" y="39227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Query-Rewriter Agent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70432" y="4315968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when Grading Agent signals FAIL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Reformulates query for better web search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validated web content with local findings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386584"/>
            <a:ext cx="0" cy="137160"/>
          </a:xfrm>
          <a:prstGeom prst="line">
            <a:avLst/>
          </a:prstGeom>
          <a:noFill/>
          <a:ln w="19050">
            <a:solidFill>
              <a:srgbClr val="94A8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80560" y="2450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8C7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648456"/>
            <a:ext cx="0" cy="137160"/>
          </a:xfrm>
          <a:prstGeom prst="line">
            <a:avLst/>
          </a:prstGeom>
          <a:noFill/>
          <a:ln w="19050">
            <a:solidFill>
              <a:srgbClr val="94A8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480560" y="3712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8C7"/>
                </a:solidFill>
              </a:rPr>
              <a:t>▼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&amp; Vector Pipeline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PDFs are processed into searchable vector embeddings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Pipeline</a:t>
            </a:r>
            <a:endParaRPr lang="en-US" sz="1100" dirty="0"/>
          </a:p>
        </p:txBody>
      </p:sp>
      <p:pic>
        <p:nvPicPr>
          <p:cNvPr id="5" name="Image 0" descr="/home/claude/diagram_ing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9888"/>
            <a:ext cx="8229600" cy="1481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944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 &amp; Retrieval Pipeline</a:t>
            </a:r>
            <a:endParaRPr lang="en-US" sz="1100" dirty="0"/>
          </a:p>
        </p:txBody>
      </p:sp>
      <p:pic>
        <p:nvPicPr>
          <p:cNvPr id="7" name="Image 1" descr="/home/claude/diagram_vector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00400"/>
            <a:ext cx="7589520" cy="1719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DocuTrust enterprise-ready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2651760" cy="1664208"/>
          </a:xfrm>
          <a:prstGeom prst="roundRect">
            <a:avLst>
              <a:gd name="adj" fmla="val 6593"/>
            </a:avLst>
          </a:prstGeom>
          <a:solidFill>
            <a:srgbClr val="13274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14538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CRAG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retrieval quality before generation — prevents hallucinated answers at the source.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64408" y="1298448"/>
            <a:ext cx="2651760" cy="1664208"/>
          </a:xfrm>
          <a:prstGeom prst="roundRect">
            <a:avLst>
              <a:gd name="adj" fmla="val 6593"/>
            </a:avLst>
          </a:prstGeom>
          <a:solidFill>
            <a:srgbClr val="132748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86200" y="14538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Citation Enforcement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mapped to exact document source and section — full auditability.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44768" y="1298448"/>
            <a:ext cx="2651760" cy="1664208"/>
          </a:xfrm>
          <a:prstGeom prst="roundRect">
            <a:avLst>
              <a:gd name="adj" fmla="val 6593"/>
            </a:avLst>
          </a:prstGeom>
          <a:solidFill>
            <a:srgbClr val="132748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766560" y="14538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Fallback 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92024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query rewriter activates when documents can't answer — no dead ends.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3172968"/>
            <a:ext cx="2651760" cy="1664208"/>
          </a:xfrm>
          <a:prstGeom prst="roundRect">
            <a:avLst>
              <a:gd name="adj" fmla="val 6593"/>
            </a:avLst>
          </a:prstGeom>
          <a:solidFill>
            <a:srgbClr val="132748"/>
          </a:solidFill>
          <a:ln w="15240">
            <a:solidFill>
              <a:srgbClr val="1A8FE3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3328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Agent Logs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Split-pane UI streams live agent evaluation steps — full transparency on every query.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64408" y="3172968"/>
            <a:ext cx="2651760" cy="1664208"/>
          </a:xfrm>
          <a:prstGeom prst="roundRect">
            <a:avLst>
              <a:gd name="adj" fmla="val 6593"/>
            </a:avLst>
          </a:prstGeom>
          <a:solidFill>
            <a:srgbClr val="132748"/>
          </a:solidFill>
          <a:ln w="1524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86200" y="3328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Audit Trail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79476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profiles and interaction trace logs stored for compliance and review.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3172968"/>
            <a:ext cx="2651760" cy="1664208"/>
          </a:xfrm>
          <a:prstGeom prst="roundRect">
            <a:avLst>
              <a:gd name="adj" fmla="val 6593"/>
            </a:avLst>
          </a:prstGeom>
          <a:solidFill>
            <a:srgbClr val="132748"/>
          </a:solidFill>
          <a:ln w="15240">
            <a:solidFill>
              <a:srgbClr val="F5C8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66560" y="3328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PDF Ingestion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79476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chunking with metadata extraction supports large, complex policy documents.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Scenarios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enterprise use cases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8321040" cy="1078992"/>
          </a:xfrm>
          <a:prstGeom prst="roundRect">
            <a:avLst>
              <a:gd name="adj" fmla="val 10169"/>
            </a:avLst>
          </a:prstGeom>
          <a:solidFill>
            <a:srgbClr val="132748"/>
          </a:solidFill>
          <a:ln w="16510">
            <a:solidFill>
              <a:srgbClr val="1A8FE3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75488" y="148132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1A8FE3">
              <a:alpha val="90000"/>
            </a:srgbClr>
          </a:solidFill>
          <a:ln w="12700">
            <a:solidFill>
              <a:srgbClr val="1A8F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75488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26464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Q&amp;A with Validated Answers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7556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upload corporate policy PDFs. Users ask natural-language questions. DocuTrust retrieves, grades, and returns answers with paragraph-level citations — never an unsourced claim.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532888"/>
            <a:ext cx="8321040" cy="1078992"/>
          </a:xfrm>
          <a:prstGeom prst="roundRect">
            <a:avLst>
              <a:gd name="adj" fmla="val 10169"/>
            </a:avLst>
          </a:prstGeom>
          <a:solidFill>
            <a:srgbClr val="132748"/>
          </a:solidFill>
          <a:ln w="1651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" y="271576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97316">
              <a:alpha val="9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" y="2715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2660904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Web Fallback on Knowledge Gaps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99008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uploaded documents don't cover a query, the Query-Rewriter Agent reformulates and fetches supplementary web content, clearly flagging external sources in the audit trail.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767328"/>
            <a:ext cx="8321040" cy="1078992"/>
          </a:xfrm>
          <a:prstGeom prst="roundRect">
            <a:avLst>
              <a:gd name="adj" fmla="val 10169"/>
            </a:avLst>
          </a:prstGeom>
          <a:solidFill>
            <a:srgbClr val="132748"/>
          </a:solidFill>
          <a:ln w="1651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5488" y="395020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" y="3950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895344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 with Full Transparency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22452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officers watch every retrieval and grading step in real time via the agent log panel before trusting answers — full pipeline visibility for regulated environments.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926080"/>
            <a:ext cx="3840480" cy="3840480"/>
          </a:xfrm>
          <a:prstGeom prst="ellipse">
            <a:avLst/>
          </a:prstGeom>
          <a:solidFill>
            <a:srgbClr val="16305E"/>
          </a:solidFill>
          <a:ln w="12700">
            <a:solidFill>
              <a:srgbClr val="02C0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16305E"/>
          </a:solidFill>
          <a:ln w="12700">
            <a:solidFill>
              <a:srgbClr val="1A8F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DocuTrust?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RAG platform that grades before it speaks.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" y="2084832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24128" y="2011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Hallucinations — </a:t>
            </a:r>
            <a:r>
              <a:rPr lang="en-US" sz="115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grading prevents any unvalidated content from reaching the user.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" y="2816352"/>
            <a:ext cx="292608" cy="292608"/>
          </a:xfrm>
          <a:prstGeom prst="ellipse">
            <a:avLst/>
          </a:prstGeom>
          <a:solidFill>
            <a:srgbClr val="1A8FE3"/>
          </a:solidFill>
          <a:ln w="12700">
            <a:solidFill>
              <a:srgbClr val="1A8F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24128" y="2743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 — </a:t>
            </a:r>
            <a:r>
              <a:rPr lang="en-US" sz="115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 logs let enterprises verify every step of the pipeline.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3547872"/>
            <a:ext cx="292608" cy="29260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24128" y="3474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an Answer — </a:t>
            </a:r>
            <a:r>
              <a:rPr lang="en-US" sz="115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fallback ensures no query goes unanswered, with clear source attribution.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" y="4279392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24128" y="4206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Compliance — </a:t>
            </a:r>
            <a:r>
              <a:rPr lang="en-US" sz="1150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audit trail and strict citations satisfy regulated industry requirements.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645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DocuTrust  ·  Enterprise CRAG Platform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1E6925-F6E6-6F0D-DC4A-3EE4651A32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906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0013F5A9BC3A4CB32E870EE9784523" ma:contentTypeVersion="11" ma:contentTypeDescription="Create a new document." ma:contentTypeScope="" ma:versionID="7f271de9c423364db639b7463c0ca749">
  <xsd:schema xmlns:xsd="http://www.w3.org/2001/XMLSchema" xmlns:xs="http://www.w3.org/2001/XMLSchema" xmlns:p="http://schemas.microsoft.com/office/2006/metadata/properties" xmlns:ns3="10260ce4-cdaf-4108-9343-32bc6789a17e" targetNamespace="http://schemas.microsoft.com/office/2006/metadata/properties" ma:root="true" ma:fieldsID="313b078dac85def5c78f319da83e3113" ns3:_="">
    <xsd:import namespace="10260ce4-cdaf-4108-9343-32bc6789a17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260ce4-cdaf-4108-9343-32bc6789a17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260ce4-cdaf-4108-9343-32bc6789a17e" xsi:nil="true"/>
  </documentManagement>
</p:properties>
</file>

<file path=customXml/itemProps1.xml><?xml version="1.0" encoding="utf-8"?>
<ds:datastoreItem xmlns:ds="http://schemas.openxmlformats.org/officeDocument/2006/customXml" ds:itemID="{CFCFB4EB-15DA-4B99-BE15-58AB0B1FF6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260ce4-cdaf-4108-9343-32bc6789a1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36B6C0-B527-4586-8D7A-E65DDBEB1D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AAFA6E-E6E7-4365-BDFF-7786E99EA491}">
  <ds:schemaRefs>
    <ds:schemaRef ds:uri="http://www.w3.org/XML/1998/namespace"/>
    <ds:schemaRef ds:uri="http://schemas.microsoft.com/office/infopath/2007/PartnerControls"/>
    <ds:schemaRef ds:uri="http://purl.org/dc/elements/1.1/"/>
    <ds:schemaRef ds:uri="10260ce4-cdaf-4108-9343-32bc6789a17e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729</Words>
  <Application>Microsoft Office PowerPoint</Application>
  <PresentationFormat>On-screen Show (16:9)</PresentationFormat>
  <Paragraphs>140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DocuTrust – Enterprise Advanced RAG Platform</dc:title>
  <dc:subject>PptxGenJS Presentation</dc:subject>
  <dc:creator>Charan</dc:creator>
  <cp:lastModifiedBy>24B11AI195</cp:lastModifiedBy>
  <cp:revision>3</cp:revision>
  <dcterms:created xsi:type="dcterms:W3CDTF">2026-06-22T06:34:42Z</dcterms:created>
  <dcterms:modified xsi:type="dcterms:W3CDTF">2026-06-22T06:56:55Z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0x010100420013F5A9BC3A4CB32E870EE9784523</vt:lpwstr>
  </property>
</Properties>
</file>